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7" r:id="rId5"/>
    <p:sldId id="292" r:id="rId6"/>
    <p:sldId id="288" r:id="rId7"/>
    <p:sldId id="264" r:id="rId8"/>
    <p:sldId id="279" r:id="rId9"/>
    <p:sldId id="258" r:id="rId10"/>
    <p:sldId id="285" r:id="rId11"/>
    <p:sldId id="289" r:id="rId12"/>
    <p:sldId id="287" r:id="rId13"/>
    <p:sldId id="290" r:id="rId14"/>
    <p:sldId id="284" r:id="rId15"/>
    <p:sldId id="291" r:id="rId16"/>
    <p:sldId id="281" r:id="rId17"/>
    <p:sldId id="277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6" autoAdjust="0"/>
  </p:normalViewPr>
  <p:slideViewPr>
    <p:cSldViewPr showGuides="1">
      <p:cViewPr varScale="1">
        <p:scale>
          <a:sx n="66" d="100"/>
          <a:sy n="66" d="100"/>
        </p:scale>
        <p:origin x="1330" y="278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5/9/2026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5/7/2026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99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f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69876" y="836712"/>
            <a:ext cx="10287000" cy="108012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IN" dirty="0"/>
              <a:t>UPI Transaction Data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845940" y="2042257"/>
            <a:ext cx="8774832" cy="53340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Focus: Transactions, Performance &amp; Fraud Insights</a:t>
            </a:r>
            <a:endParaRPr lang="en-US" dirty="0"/>
          </a:p>
        </p:txBody>
      </p:sp>
      <p:pic>
        <p:nvPicPr>
          <p:cNvPr id="5" name="Picture 4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D4344288-7D88-F995-8C87-CB4F7B81D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76" y="2575657"/>
            <a:ext cx="5115715" cy="29374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hand holding a phone&#10;&#10;AI-generated content may be incorrect.">
            <a:extLst>
              <a:ext uri="{FF2B5EF4-FFF2-40B4-BE49-F238E27FC236}">
                <a16:creationId xmlns:a16="http://schemas.microsoft.com/office/drawing/2014/main" id="{C5FA6D53-CBBE-E6DB-9FC3-772E9BB38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48" y="952093"/>
            <a:ext cx="1874406" cy="102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B9EBC1-21EC-6963-659C-7AF69315C6CB}"/>
              </a:ext>
            </a:extLst>
          </p:cNvPr>
          <p:cNvSpPr txBox="1"/>
          <p:nvPr/>
        </p:nvSpPr>
        <p:spPr>
          <a:xfrm>
            <a:off x="247969" y="3049666"/>
            <a:ext cx="5846443" cy="101566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Presented By:</a:t>
            </a:r>
          </a:p>
          <a:p>
            <a:r>
              <a:rPr lang="en-IN" sz="2000" b="1" dirty="0"/>
              <a:t>Jivika Devraj Jadhav </a:t>
            </a:r>
          </a:p>
          <a:p>
            <a:r>
              <a:rPr lang="en-IN" sz="2000" b="1" dirty="0"/>
              <a:t>Date:10.05.2026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51A7EE-9633-D9F5-0573-7413D3AB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1C447-D351-C92C-7CA4-5CC581A90F84}"/>
              </a:ext>
            </a:extLst>
          </p:cNvPr>
          <p:cNvSpPr txBox="1"/>
          <p:nvPr/>
        </p:nvSpPr>
        <p:spPr>
          <a:xfrm>
            <a:off x="1125860" y="580109"/>
            <a:ext cx="9577064" cy="255454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Roadmap </a:t>
            </a:r>
            <a:b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business understanding &amp; analytical planning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data understanding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data cleaning &amp; preparation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exploratory data analysis (EDA)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python analysis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6: dashboard development in power BI</a:t>
            </a:r>
            <a:b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7: final insights &amp; business recommendations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CEA05-7412-F5FA-D818-72A88DE9BB75}"/>
              </a:ext>
            </a:extLst>
          </p:cNvPr>
          <p:cNvSpPr txBox="1"/>
          <p:nvPr/>
        </p:nvSpPr>
        <p:spPr>
          <a:xfrm>
            <a:off x="1125860" y="3429000"/>
            <a:ext cx="9577064" cy="286232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Analytical Tools &amp; Technologies</a:t>
            </a:r>
            <a:b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The following tools will be used in this project: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Microsoft excel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used for initial data exploration and quick analysis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Python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(pandas, NumPy, matplotlib, seaborn)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used for data cleaning, analysis, and visualization.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Power BI</a:t>
            </a:r>
            <a:b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used to build interactive dashboards and present insights.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These tools will help in performing end-to-end data analysis.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3545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30B8-2F48-3214-14A0-D60341DE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06" y="476672"/>
            <a:ext cx="4114800" cy="5295900"/>
          </a:xfrm>
        </p:spPr>
        <p:txBody>
          <a:bodyPr/>
          <a:lstStyle/>
          <a:p>
            <a:r>
              <a:rPr lang="en-US" u="sng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Objective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CA348C-9CC4-7906-E150-441D14FFC3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9600"/>
            <a:ext cx="760413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3A161-823E-A10C-4093-ABFE44FA867C}"/>
              </a:ext>
            </a:extLst>
          </p:cNvPr>
          <p:cNvSpPr txBox="1"/>
          <p:nvPr/>
        </p:nvSpPr>
        <p:spPr>
          <a:xfrm>
            <a:off x="6454451" y="2060848"/>
            <a:ext cx="5354167" cy="24571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UPI transaction performance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 trends in user behavior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Evaluate success, failure, and fraud rates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Provide actionable business insights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4045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908720"/>
            <a:ext cx="7121624" cy="2160240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Executive Summary: Core Metrics</a:t>
            </a:r>
            <a:br>
              <a:rPr lang="en-IN" b="0" dirty="0"/>
            </a:b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2633093"/>
            <a:ext cx="4248472" cy="1879847"/>
          </a:xfrm>
        </p:spPr>
        <p:txBody>
          <a:bodyPr vert="horz" lIns="91416" tIns="45708" rIns="91416" bIns="45708" rtlCol="0" anchor="ctr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N" sz="10600" b="1" dirty="0">
                <a:solidFill>
                  <a:schemeClr val="bg2">
                    <a:lumMod val="50000"/>
                  </a:schemeClr>
                </a:solidFill>
              </a:rPr>
              <a:t>100K</a:t>
            </a:r>
            <a:endParaRPr lang="en-IN" sz="10000" b="1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Aptos" panose="020B0004020202020204" pitchFamily="34" charset="0"/>
              </a:rPr>
              <a:t>Total Transactions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EF91E4-D4A1-F56E-B1B3-8698070BA613}"/>
              </a:ext>
            </a:extLst>
          </p:cNvPr>
          <p:cNvSpPr txBox="1"/>
          <p:nvPr/>
        </p:nvSpPr>
        <p:spPr>
          <a:xfrm>
            <a:off x="6670476" y="1556792"/>
            <a:ext cx="2592288" cy="169277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$4.24M</a:t>
            </a:r>
            <a:endParaRPr lang="en-IN" b="0" dirty="0">
              <a:solidFill>
                <a:schemeClr val="accent5">
                  <a:lumMod val="75000"/>
                </a:schemeClr>
              </a:solidFill>
              <a:effectLst/>
            </a:endParaRPr>
          </a:p>
          <a:p>
            <a:pPr rtl="0">
              <a:buNone/>
            </a:pPr>
            <a:br>
              <a:rPr lang="en-IN" b="0" dirty="0">
                <a:effectLst/>
              </a:rPr>
            </a:br>
            <a:r>
              <a:rPr lang="en-IN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Total Transaction Value</a:t>
            </a:r>
            <a:endParaRPr lang="en-IN" b="0" dirty="0">
              <a:effectLst/>
              <a:latin typeface="Aptos" panose="020B0004020202020204" pitchFamily="34" charset="0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B49C9-7A46-412A-2AD6-8DA2F81ACFBF}"/>
              </a:ext>
            </a:extLst>
          </p:cNvPr>
          <p:cNvSpPr txBox="1"/>
          <p:nvPr/>
        </p:nvSpPr>
        <p:spPr>
          <a:xfrm>
            <a:off x="9538390" y="1560984"/>
            <a:ext cx="2254325" cy="169277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 i="0" u="none" strike="noStrike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92.14%</a:t>
            </a:r>
            <a:endParaRPr lang="en-IN" b="0" dirty="0">
              <a:effectLst/>
            </a:endParaRPr>
          </a:p>
          <a:p>
            <a:pPr rtl="0">
              <a:buNone/>
            </a:pPr>
            <a:br>
              <a:rPr lang="en-IN" b="0" dirty="0">
                <a:effectLst/>
              </a:rPr>
            </a:br>
            <a:r>
              <a:rPr lang="en-IN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Success Rate</a:t>
            </a:r>
            <a:endParaRPr lang="en-IN" b="0" dirty="0">
              <a:effectLst/>
              <a:latin typeface="Aptos" panose="020B0004020202020204" pitchFamily="34" charset="0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0AFE9D-C1FE-E768-C3AE-4BF87B2BC123}"/>
              </a:ext>
            </a:extLst>
          </p:cNvPr>
          <p:cNvSpPr txBox="1"/>
          <p:nvPr/>
        </p:nvSpPr>
        <p:spPr>
          <a:xfrm>
            <a:off x="6670476" y="3329843"/>
            <a:ext cx="2592288" cy="169277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 i="0" u="none" strike="noStrike" dirty="0">
                <a:solidFill>
                  <a:srgbClr val="EF4444"/>
                </a:solidFill>
                <a:effectLst/>
                <a:latin typeface="Poppins" panose="00000500000000000000" pitchFamily="2" charset="0"/>
              </a:rPr>
              <a:t>2.00%</a:t>
            </a:r>
            <a:endParaRPr lang="en-IN" b="0" dirty="0">
              <a:effectLst/>
            </a:endParaRPr>
          </a:p>
          <a:p>
            <a:pPr rtl="0">
              <a:buNone/>
            </a:pPr>
            <a:br>
              <a:rPr lang="en-IN" b="0" dirty="0">
                <a:effectLst/>
                <a:latin typeface="Aptos" panose="020B0004020202020204" pitchFamily="34" charset="0"/>
              </a:rPr>
            </a:br>
            <a:r>
              <a:rPr lang="en-IN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Fraud Rate</a:t>
            </a:r>
            <a:endParaRPr lang="en-IN" b="0" dirty="0">
              <a:effectLst/>
              <a:latin typeface="Aptos" panose="020B0004020202020204" pitchFamily="34" charset="0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D95EF-ED53-F075-8FF9-8E3458073770}"/>
              </a:ext>
            </a:extLst>
          </p:cNvPr>
          <p:cNvSpPr txBox="1"/>
          <p:nvPr/>
        </p:nvSpPr>
        <p:spPr>
          <a:xfrm>
            <a:off x="8138661" y="5102894"/>
            <a:ext cx="2248206" cy="169101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 i="0" u="none" strike="noStrike" dirty="0">
                <a:solidFill>
                  <a:srgbClr val="FFC000"/>
                </a:solidFill>
                <a:effectLst/>
                <a:latin typeface="Poppins" panose="00000500000000000000" pitchFamily="2" charset="0"/>
              </a:rPr>
              <a:t>1.99%</a:t>
            </a:r>
            <a:endParaRPr lang="en-IN" b="0" dirty="0">
              <a:solidFill>
                <a:srgbClr val="FFC000"/>
              </a:solidFill>
              <a:effectLst/>
            </a:endParaRPr>
          </a:p>
          <a:p>
            <a:pPr rtl="0">
              <a:buNone/>
            </a:pPr>
            <a:br>
              <a:rPr lang="en-IN" b="0" dirty="0">
                <a:effectLst/>
                <a:latin typeface="Aptos" panose="020B0004020202020204" pitchFamily="34" charset="0"/>
              </a:rPr>
            </a:br>
            <a:r>
              <a:rPr lang="en-IN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Pending Rate</a:t>
            </a:r>
            <a:endParaRPr lang="en-IN" b="0" dirty="0">
              <a:effectLst/>
              <a:latin typeface="Aptos" panose="020B0004020202020204" pitchFamily="34" charset="0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4B9174-D1FB-8411-4EB2-8F4ACE511BCA}"/>
              </a:ext>
            </a:extLst>
          </p:cNvPr>
          <p:cNvSpPr txBox="1"/>
          <p:nvPr/>
        </p:nvSpPr>
        <p:spPr>
          <a:xfrm>
            <a:off x="9526942" y="3377574"/>
            <a:ext cx="2254325" cy="169277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1" dirty="0">
                <a:solidFill>
                  <a:srgbClr val="FF0000"/>
                </a:solidFill>
                <a:latin typeface="Poppins" panose="00000500000000000000" pitchFamily="2" charset="0"/>
              </a:rPr>
              <a:t>5.87</a:t>
            </a:r>
            <a:r>
              <a:rPr lang="en-IN" sz="3200" b="1" i="0" u="none" strike="noStrike" dirty="0">
                <a:solidFill>
                  <a:srgbClr val="FF0000"/>
                </a:solidFill>
                <a:effectLst/>
                <a:latin typeface="Poppins" panose="00000500000000000000" pitchFamily="2" charset="0"/>
              </a:rPr>
              <a:t>%</a:t>
            </a:r>
            <a:endParaRPr lang="en-IN" b="0" dirty="0">
              <a:solidFill>
                <a:srgbClr val="FF0000"/>
              </a:solidFill>
              <a:effectLst/>
            </a:endParaRPr>
          </a:p>
          <a:p>
            <a:pPr rtl="0">
              <a:buNone/>
            </a:pPr>
            <a:br>
              <a:rPr lang="en-IN" b="0" dirty="0">
                <a:effectLst/>
              </a:rPr>
            </a:br>
            <a:r>
              <a:rPr lang="en-IN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Failure Rate</a:t>
            </a:r>
            <a:endParaRPr lang="en-IN" b="0" dirty="0">
              <a:effectLst/>
              <a:latin typeface="Aptos" panose="020B0004020202020204" pitchFamily="34" charset="0"/>
            </a:endParaRPr>
          </a:p>
          <a:p>
            <a:pPr algn="ctr"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49B8C0-7C8E-9BF4-80AE-6486D8E1CC6D}"/>
              </a:ext>
            </a:extLst>
          </p:cNvPr>
          <p:cNvSpPr txBox="1"/>
          <p:nvPr/>
        </p:nvSpPr>
        <p:spPr>
          <a:xfrm>
            <a:off x="765820" y="5626114"/>
            <a:ext cx="691276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i="1" dirty="0"/>
              <a:t>System shows strong performance with high success rate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5736704" cy="947192"/>
          </a:xfrm>
        </p:spPr>
        <p:txBody>
          <a:bodyPr anchor="t">
            <a:normAutofit/>
          </a:bodyPr>
          <a:lstStyle/>
          <a:p>
            <a:r>
              <a:rPr lang="en-IN" dirty="0"/>
              <a:t>Historical Growth Trajectory</a:t>
            </a:r>
            <a:endParaRPr lang="en-US" dirty="0"/>
          </a:p>
        </p:txBody>
      </p:sp>
      <p:sp>
        <p:nvSpPr>
          <p:cNvPr id="3081" name="Slide Number Placeholder 2">
            <a:extLst>
              <a:ext uri="{FF2B5EF4-FFF2-40B4-BE49-F238E27FC236}">
                <a16:creationId xmlns:a16="http://schemas.microsoft.com/office/drawing/2014/main" id="{400577F0-2D30-2693-1356-8707BFAD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2C749A-ADED-4656-CB84-176E7C786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9210" y="1003243"/>
            <a:ext cx="7125912" cy="389565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A89A0E-6394-AD54-76C2-2B2352A9FBCA}"/>
              </a:ext>
            </a:extLst>
          </p:cNvPr>
          <p:cNvSpPr txBox="1"/>
          <p:nvPr/>
        </p:nvSpPr>
        <p:spPr>
          <a:xfrm>
            <a:off x="981844" y="5140318"/>
            <a:ext cx="7056784" cy="147732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  <a:buNone/>
            </a:pPr>
            <a:r>
              <a:rPr lang="en-US" sz="1800" b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Continuous upward trend with significant acceleration observed post-2023, reflecting strong platform adoption.</a:t>
            </a:r>
            <a:endParaRPr lang="en-US" b="0" dirty="0">
              <a:effectLst/>
              <a:latin typeface="Aptos" panose="020B0004020202020204" pitchFamily="34" charset="0"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176C42-3874-52E2-E045-5B60E311A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659" y="1168233"/>
            <a:ext cx="3586863" cy="2592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F919610-1B5A-19B2-11AA-AB3A6F5570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26659" y="4113503"/>
            <a:ext cx="3862166" cy="22271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Weekdays see higher volume</a:t>
            </a:r>
            <a:r>
              <a:rPr lang="en-US" b="1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(Mon–Fri) </a:t>
            </a:r>
            <a:r>
              <a:rPr lang="en-US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vs. weekends, Maximum Transaction made on</a:t>
            </a:r>
            <a:r>
              <a:rPr lang="en-US" b="1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Monday</a:t>
            </a:r>
            <a:r>
              <a:rPr lang="en-US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and </a:t>
            </a:r>
            <a:r>
              <a:rPr lang="en-US" b="1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Tuesday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150D00-FD09-7CA5-D4A7-4767F1C219E5}"/>
              </a:ext>
            </a:extLst>
          </p:cNvPr>
          <p:cNvSpPr txBox="1"/>
          <p:nvPr/>
        </p:nvSpPr>
        <p:spPr>
          <a:xfrm>
            <a:off x="1293812" y="6063734"/>
            <a:ext cx="616675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Indicates </a:t>
            </a:r>
            <a:r>
              <a:rPr lang="en-US" b="1" dirty="0"/>
              <a:t>rapid UPI adoption and scalability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9625136" cy="731168"/>
          </a:xfrm>
        </p:spPr>
        <p:txBody>
          <a:bodyPr anchor="t">
            <a:normAutofit/>
          </a:bodyPr>
          <a:lstStyle/>
          <a:p>
            <a:r>
              <a:rPr lang="en-IN" dirty="0"/>
              <a:t>User Demographics &amp; Value Distribution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E60D3D-3D9E-AB0C-85A0-461A205273C2}"/>
              </a:ext>
            </a:extLst>
          </p:cNvPr>
          <p:cNvSpPr txBox="1"/>
          <p:nvPr/>
        </p:nvSpPr>
        <p:spPr>
          <a:xfrm>
            <a:off x="929248" y="3095996"/>
            <a:ext cx="4896544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anchor="ctr">
            <a:spAutoFit/>
          </a:bodyPr>
          <a:lstStyle/>
          <a:p>
            <a:pPr algn="ctr" rtl="0">
              <a:buNone/>
            </a:pPr>
            <a:r>
              <a:rPr lang="en-IN" sz="1800" b="1" i="0" u="none" strike="noStrike" dirty="0">
                <a:solidFill>
                  <a:srgbClr val="3B82F6"/>
                </a:solidFill>
                <a:effectLst/>
                <a:latin typeface="Poppins" panose="00000500000000000000" pitchFamily="2" charset="0"/>
              </a:rPr>
              <a:t>Age Segment Analysis</a:t>
            </a:r>
            <a:endParaRPr lang="en-IN" b="0" dirty="0">
              <a:effectLst/>
            </a:endParaRPr>
          </a:p>
          <a:p>
            <a:pPr algn="ctr"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76B7E-637F-872F-13B9-CC2ECEDC4478}"/>
              </a:ext>
            </a:extLst>
          </p:cNvPr>
          <p:cNvSpPr txBox="1"/>
          <p:nvPr/>
        </p:nvSpPr>
        <p:spPr>
          <a:xfrm>
            <a:off x="876877" y="4145490"/>
            <a:ext cx="4896544" cy="212987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The </a:t>
            </a:r>
            <a:r>
              <a:rPr lang="en-US" sz="1800" b="1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50+ age group</a:t>
            </a:r>
            <a:r>
              <a:rPr lang="en-US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 represents the highest transaction value, despite not being the largest volume segment. Younger segments (18-25) show high frequency but lower individual transaction ticket sizes.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6BC80-976B-840B-F6B8-4CD8BAA390AA}"/>
              </a:ext>
            </a:extLst>
          </p:cNvPr>
          <p:cNvSpPr txBox="1"/>
          <p:nvPr/>
        </p:nvSpPr>
        <p:spPr>
          <a:xfrm>
            <a:off x="6675242" y="1150444"/>
            <a:ext cx="4896544" cy="59304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i="0" u="none" strike="noStrike" dirty="0">
                <a:solidFill>
                  <a:srgbClr val="3B82F6"/>
                </a:solidFill>
                <a:effectLst/>
                <a:latin typeface="Aptos" panose="020B0004020202020204" pitchFamily="34" charset="0"/>
              </a:rPr>
              <a:t>Gender &amp; Behaviour</a:t>
            </a:r>
            <a:endParaRPr lang="en-IN" sz="2400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D5CB1B-6A1E-5F45-ADF1-A979C9ADD168}"/>
              </a:ext>
            </a:extLst>
          </p:cNvPr>
          <p:cNvSpPr txBox="1"/>
          <p:nvPr/>
        </p:nvSpPr>
        <p:spPr>
          <a:xfrm>
            <a:off x="6697563" y="1876220"/>
            <a:ext cx="4896544" cy="161582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Male users contribute slightly more to the total volume (52%). Customer retention follows a seasonal trend, reaching its </a:t>
            </a:r>
            <a:r>
              <a:rPr lang="en-US" sz="1800" b="1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peak in </a:t>
            </a:r>
            <a:r>
              <a:rPr lang="en-IN" b="1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July (~70%)</a:t>
            </a:r>
          </a:p>
          <a:p>
            <a:r>
              <a:rPr lang="en-IN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67B91C-2320-7608-2823-40F1059A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890" y="3757254"/>
            <a:ext cx="4896544" cy="2714512"/>
          </a:xfrm>
          <a:prstGeom prst="rect">
            <a:avLst/>
          </a:prstGeom>
        </p:spPr>
      </p:pic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45FC75DC-3C43-1FBA-CD09-1F4731563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26" y="1183370"/>
            <a:ext cx="5159999" cy="179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247" y="540553"/>
            <a:ext cx="6633321" cy="587152"/>
          </a:xfrm>
        </p:spPr>
        <p:txBody>
          <a:bodyPr>
            <a:normAutofit fontScale="90000"/>
          </a:bodyPr>
          <a:lstStyle/>
          <a:p>
            <a:r>
              <a:rPr lang="en-IN" dirty="0"/>
              <a:t>UPI Transaction Distribution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7887" y="4553658"/>
            <a:ext cx="5930517" cy="905205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“Transaction system is highly efficient with a dominant success rate and minimal failures or delays.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DDFC17-74F9-83D6-7195-BCA42E1C1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22" y="2715302"/>
            <a:ext cx="4979133" cy="367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8314EA-2B65-E581-6F0D-27FD40FB1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415" y="990600"/>
            <a:ext cx="4224741" cy="32593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3F5E5B-56A8-D265-5ECD-0FE3838CD9E8}"/>
              </a:ext>
            </a:extLst>
          </p:cNvPr>
          <p:cNvSpPr txBox="1"/>
          <p:nvPr/>
        </p:nvSpPr>
        <p:spPr>
          <a:xfrm>
            <a:off x="760413" y="1151519"/>
            <a:ext cx="6166756" cy="129888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sz="1800" b="0" i="0" u="none" strike="noStrike" dirty="0">
                <a:effectLst/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P2P transfers (Send/Receive) dominate at 70% of total volume (~$2.96M), while Merchant Payments ($1.06M) represent the primary commercial driver.</a:t>
            </a:r>
            <a:endParaRPr lang="en-US" b="0" dirty="0">
              <a:effectLst/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Title 1">
            <a:extLst>
              <a:ext uri="{FF2B5EF4-FFF2-40B4-BE49-F238E27FC236}">
                <a16:creationId xmlns:a16="http://schemas.microsoft.com/office/drawing/2014/main" id="{2BD4037E-022C-9198-4975-C07B10AFA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565252"/>
            <a:ext cx="6990183" cy="587152"/>
          </a:xfrm>
        </p:spPr>
        <p:txBody>
          <a:bodyPr>
            <a:norm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Technical Performance Analysis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B5E3EB-608F-703D-E6E2-9233F7A6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AEAE4A8-A6E5-453E-B946-FB774B73F48C}" type="slidenum">
              <a:rPr lang="en-US" sz="20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200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D3DEE802-507B-914F-AB76-D55B86942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80" y="1035698"/>
            <a:ext cx="6264696" cy="570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38FC1B-C10A-9ECC-EE38-857F26489D06}"/>
              </a:ext>
            </a:extLst>
          </p:cNvPr>
          <p:cNvSpPr txBox="1"/>
          <p:nvPr/>
        </p:nvSpPr>
        <p:spPr>
          <a:xfrm>
            <a:off x="6958508" y="1628800"/>
            <a:ext cx="504056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IN" sz="1800" b="1" i="0" u="none" strike="noStrike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Primary Failure Drivers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ECDDE3-AAF9-FD59-4942-FFC93B35BF5E}"/>
              </a:ext>
            </a:extLst>
          </p:cNvPr>
          <p:cNvSpPr txBox="1"/>
          <p:nvPr/>
        </p:nvSpPr>
        <p:spPr>
          <a:xfrm>
            <a:off x="6845696" y="2276872"/>
            <a:ext cx="515337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Incorrect PIN: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Leading cause of user-end failure.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67F45-30E0-99C4-DDE3-C37F41C9C49D}"/>
              </a:ext>
            </a:extLst>
          </p:cNvPr>
          <p:cNvSpPr txBox="1"/>
          <p:nvPr/>
        </p:nvSpPr>
        <p:spPr>
          <a:xfrm>
            <a:off x="6845696" y="2815628"/>
            <a:ext cx="5153372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Network Latency: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Infrastructure challenges causing timeouts.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BFD1E5-BACD-A312-4689-F882112AB2CC}"/>
              </a:ext>
            </a:extLst>
          </p:cNvPr>
          <p:cNvSpPr txBox="1"/>
          <p:nvPr/>
        </p:nvSpPr>
        <p:spPr>
          <a:xfrm>
            <a:off x="6845696" y="3524772"/>
            <a:ext cx="5153372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Bank Downtime: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Third-party institutional dependencies.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EA2AAF-27E2-09C0-CFC7-F8C782A08713}"/>
              </a:ext>
            </a:extLst>
          </p:cNvPr>
          <p:cNvSpPr txBox="1"/>
          <p:nvPr/>
        </p:nvSpPr>
        <p:spPr>
          <a:xfrm>
            <a:off x="6835352" y="4211797"/>
            <a:ext cx="515337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Account Blocks: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Security-triggered transaction halts.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43BDF2-82F9-F60C-275C-43D9D1B86C16}"/>
              </a:ext>
            </a:extLst>
          </p:cNvPr>
          <p:cNvSpPr txBox="1"/>
          <p:nvPr/>
        </p:nvSpPr>
        <p:spPr>
          <a:xfrm>
            <a:off x="760413" y="1490300"/>
            <a:ext cx="6002594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Aptos" panose="020B0004020202020204" pitchFamily="34" charset="0"/>
              </a:rPr>
              <a:t>Analysis of </a:t>
            </a:r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Aptos" panose="020B0004020202020204" pitchFamily="34" charset="0"/>
              </a:rPr>
              <a:t>5,870 failed 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Aptos" panose="020B0004020202020204" pitchFamily="34" charset="0"/>
              </a:rPr>
              <a:t>transactions reveals critical bottlenecks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01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1D95-63FC-221D-E3F3-B25BBE67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8D86-C3DD-4234-BCC1-5355D8FE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415" y="406748"/>
            <a:ext cx="4914900" cy="405704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Fraud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1A400-72C8-E105-08D5-3891B72F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D0C921-C6DA-95C6-497F-0C0842F0ECEF}"/>
              </a:ext>
            </a:extLst>
          </p:cNvPr>
          <p:cNvSpPr txBox="1"/>
          <p:nvPr/>
        </p:nvSpPr>
        <p:spPr>
          <a:xfrm>
            <a:off x="764268" y="924657"/>
            <a:ext cx="5904468" cy="147732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ptos" panose="020B0004020202020204" pitchFamily="34" charset="0"/>
              </a:rPr>
              <a:t>Fraud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Total Fraud Count: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2000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Fraud Rate: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~2%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Fraud Amount: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84.71K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r>
              <a:rPr lang="en-US" dirty="0">
                <a:latin typeface="Aptos" panose="020B0004020202020204" pitchFamily="34" charset="0"/>
              </a:rPr>
              <a:t>➡️ </a:t>
            </a:r>
            <a:r>
              <a:rPr lang="en-US" i="1" dirty="0">
                <a:latin typeface="Aptos" panose="020B0004020202020204" pitchFamily="34" charset="0"/>
              </a:rPr>
              <a:t>Fraud is controlled but still significant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7316885-43B7-5116-63A9-583729F1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776" y="367177"/>
            <a:ext cx="4996670" cy="25922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6AD1F8A-75FE-4B04-C59B-C4693A2948AF}"/>
              </a:ext>
            </a:extLst>
          </p:cNvPr>
          <p:cNvSpPr txBox="1"/>
          <p:nvPr/>
        </p:nvSpPr>
        <p:spPr>
          <a:xfrm>
            <a:off x="6884038" y="3068960"/>
            <a:ext cx="4890674" cy="184005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Noticeable spikes during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late-night / off-peak hours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</a:t>
            </a:r>
          </a:p>
          <a:p>
            <a:pPr marL="342900" indent="-342900">
              <a:lnSpc>
                <a:spcPct val="107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</a:rPr>
              <a:t>Insight </a:t>
            </a:r>
            <a:r>
              <a:rPr lang="en-IN" dirty="0">
                <a:latin typeface="Aptos" panose="020B0004020202020204" pitchFamily="34" charset="0"/>
              </a:rPr>
              <a:t>Fraudsters exploit low monitoring periods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471D68-C836-E935-1548-BF2A48A319C4}"/>
              </a:ext>
            </a:extLst>
          </p:cNvPr>
          <p:cNvSpPr txBox="1"/>
          <p:nvPr/>
        </p:nvSpPr>
        <p:spPr>
          <a:xfrm>
            <a:off x="6909090" y="5018511"/>
            <a:ext cx="4865622" cy="169758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97790" indent="-180340">
              <a:lnSpc>
                <a:spcPct val="107000"/>
              </a:lnSpc>
              <a:spcBef>
                <a:spcPts val="1200"/>
              </a:spcBef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Action:</a:t>
            </a:r>
          </a:p>
          <a:p>
            <a:pPr marL="97790" indent="-180340">
              <a:lnSpc>
                <a:spcPct val="107000"/>
              </a:lnSpc>
              <a:spcBef>
                <a:spcPts val="1200"/>
              </a:spcBef>
              <a:buNone/>
            </a:pPr>
            <a:r>
              <a:rPr lang="en-IN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Enable stricter fraud rules during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night hours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</a:t>
            </a:r>
          </a:p>
          <a:p>
            <a:pPr marL="97790" indent="-180340">
              <a:lnSpc>
                <a:spcPct val="107000"/>
              </a:lnSpc>
              <a:spcBef>
                <a:spcPts val="1200"/>
              </a:spcBef>
            </a:pPr>
            <a:r>
              <a:rPr lang="en-IN" dirty="0">
                <a:latin typeface="Aptos" panose="020B0004020202020204" pitchFamily="34" charset="0"/>
              </a:rPr>
              <a:t>Real-time alerts &amp; anomaly detection </a:t>
            </a:r>
          </a:p>
          <a:p>
            <a:pPr marL="97790" indent="-180340">
              <a:lnSpc>
                <a:spcPct val="107000"/>
              </a:lnSpc>
              <a:spcBef>
                <a:spcPts val="1200"/>
              </a:spcBef>
              <a:buNone/>
            </a:pP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B99C56B-FD4E-4B02-8A15-3B2925B9A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15" y="5845461"/>
            <a:ext cx="5334000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3704997-5835-C531-4978-038A3F60D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30" y="2514190"/>
            <a:ext cx="5864306" cy="333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8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173B4-733F-1C1F-64BB-98A25726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042" y="276179"/>
            <a:ext cx="7057618" cy="632541"/>
          </a:xfrm>
        </p:spPr>
        <p:txBody>
          <a:bodyPr>
            <a:normAutofit/>
          </a:bodyPr>
          <a:lstStyle/>
          <a:p>
            <a:r>
              <a:rPr lang="en-IN" dirty="0"/>
              <a:t>Fraud Dynamics and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436AF7-5256-8FF9-D8C6-815943D1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8" name="Picture 17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71FF8CF4-E74F-54CF-A1F1-B1FE780C0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31" y="990600"/>
            <a:ext cx="5460821" cy="26212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0A12FD-04C2-C212-08C8-D63A14CADC4F}"/>
              </a:ext>
            </a:extLst>
          </p:cNvPr>
          <p:cNvSpPr txBox="1"/>
          <p:nvPr/>
        </p:nvSpPr>
        <p:spPr>
          <a:xfrm>
            <a:off x="6663464" y="1000079"/>
            <a:ext cx="5455920" cy="114114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678815" algn="l"/>
              </a:tabLst>
            </a:pPr>
            <a:r>
              <a:rPr lang="en-IN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Categories like Apparel, Electronics, Online dominate transaction volume </a:t>
            </a:r>
            <a:endParaRPr lang="en-IN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80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678815" algn="l"/>
              </a:tabLst>
            </a:pPr>
            <a:r>
              <a:rPr lang="en-IN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Some categories show relatively higher fraud share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pic>
        <p:nvPicPr>
          <p:cNvPr id="21" name="Picture 2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4B92EB4-8609-ED7A-D71E-F3B98EF86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32" y="3728675"/>
            <a:ext cx="5040560" cy="2940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6E94D2A-6204-30AA-33FA-3B6D934C9C2A}"/>
              </a:ext>
            </a:extLst>
          </p:cNvPr>
          <p:cNvSpPr txBox="1"/>
          <p:nvPr/>
        </p:nvSpPr>
        <p:spPr>
          <a:xfrm>
            <a:off x="993631" y="3861048"/>
            <a:ext cx="5669833" cy="106907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Send &amp; Receive transactions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have highest fraud count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80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Bill payments show lowest fraud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4C4EC-267B-253B-3073-D95C4B2EAC87}"/>
              </a:ext>
            </a:extLst>
          </p:cNvPr>
          <p:cNvSpPr txBox="1"/>
          <p:nvPr/>
        </p:nvSpPr>
        <p:spPr>
          <a:xfrm>
            <a:off x="982848" y="5174268"/>
            <a:ext cx="5669833" cy="127906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97790" indent="-180340">
              <a:lnSpc>
                <a:spcPct val="107000"/>
              </a:lnSpc>
              <a:spcBef>
                <a:spcPts val="1200"/>
              </a:spcBef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Action: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Add verification for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send/receive transactions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Limit high-value transfers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C6A2CF-152B-1979-DE54-E56A3DF7E2FF}"/>
              </a:ext>
            </a:extLst>
          </p:cNvPr>
          <p:cNvSpPr txBox="1"/>
          <p:nvPr/>
        </p:nvSpPr>
        <p:spPr>
          <a:xfrm>
            <a:off x="6652681" y="2265817"/>
            <a:ext cx="5455920" cy="13436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97790" indent="-97790">
              <a:lnSpc>
                <a:spcPct val="80000"/>
              </a:lnSpc>
              <a:spcBef>
                <a:spcPts val="1200"/>
              </a:spcBef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Action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: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80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588645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Identify high-risk merchant categories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80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588645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Perform periodic audits and stricter onboarding checks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03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044B4-49AD-20F7-17BB-E5A0C27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DB284BF-7F7C-A93C-B025-E43E6AD60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2921000"/>
            <a:ext cx="1218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6D6C5D4-AFE0-0115-0CE9-3B0C73D91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606713"/>
              </p:ext>
            </p:extLst>
          </p:nvPr>
        </p:nvGraphicFramePr>
        <p:xfrm>
          <a:off x="879102" y="1172614"/>
          <a:ext cx="6439445" cy="268824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44916">
                  <a:extLst>
                    <a:ext uri="{9D8B030D-6E8A-4147-A177-3AD203B41FA5}">
                      <a16:colId xmlns:a16="http://schemas.microsoft.com/office/drawing/2014/main" val="218225882"/>
                    </a:ext>
                  </a:extLst>
                </a:gridCol>
                <a:gridCol w="1664843">
                  <a:extLst>
                    <a:ext uri="{9D8B030D-6E8A-4147-A177-3AD203B41FA5}">
                      <a16:colId xmlns:a16="http://schemas.microsoft.com/office/drawing/2014/main" val="1054612638"/>
                    </a:ext>
                  </a:extLst>
                </a:gridCol>
                <a:gridCol w="1664843">
                  <a:extLst>
                    <a:ext uri="{9D8B030D-6E8A-4147-A177-3AD203B41FA5}">
                      <a16:colId xmlns:a16="http://schemas.microsoft.com/office/drawing/2014/main" val="3389483606"/>
                    </a:ext>
                  </a:extLst>
                </a:gridCol>
                <a:gridCol w="1664843">
                  <a:extLst>
                    <a:ext uri="{9D8B030D-6E8A-4147-A177-3AD203B41FA5}">
                      <a16:colId xmlns:a16="http://schemas.microsoft.com/office/drawing/2014/main" val="1053172050"/>
                    </a:ext>
                  </a:extLst>
                </a:gridCol>
              </a:tblGrid>
              <a:tr h="6744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Lato" panose="020F0502020204030203" pitchFamily="34" charset="0"/>
                        </a:rPr>
                        <a:t>Device Platform</a:t>
                      </a:r>
                      <a:endParaRPr lang="en-IN" sz="2400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Lato" panose="020F0502020204030203" pitchFamily="34" charset="0"/>
                        </a:rPr>
                        <a:t>Total Volume</a:t>
                      </a:r>
                      <a:endParaRPr lang="en-IN" sz="2400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Lato" panose="020F0502020204030203" pitchFamily="34" charset="0"/>
                        </a:rPr>
                        <a:t>Fraud Transactions</a:t>
                      </a:r>
                      <a:endParaRPr lang="en-IN" sz="2400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Lato" panose="020F0502020204030203" pitchFamily="34" charset="0"/>
                        </a:rPr>
                        <a:t>Risk Index</a:t>
                      </a:r>
                      <a:endParaRPr lang="en-IN" sz="2400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97610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Feature Phone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25596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551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 algn="ctr"/>
                      <a:endParaRPr lang="en-IN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Very High</a:t>
                      </a:r>
                      <a:endParaRPr lang="en-IN" sz="14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algn="ctr"/>
                      <a:endParaRPr lang="en-IN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241307"/>
                  </a:ext>
                </a:extLst>
              </a:tr>
              <a:tr h="4276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Android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25145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501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  <a:endParaRPr lang="en-IN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extLst>
                  <a:ext uri="{0D108BD9-81ED-4DB2-BD59-A6C34878D82A}">
                    <a16:rowId xmlns:a16="http://schemas.microsoft.com/office/drawing/2014/main" val="1219551049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Tablet 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24476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488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92D050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52420" marR="52420" marT="22466" marB="22466" anchor="ctr"/>
                </a:tc>
                <a:extLst>
                  <a:ext uri="{0D108BD9-81ED-4DB2-BD59-A6C34878D82A}">
                    <a16:rowId xmlns:a16="http://schemas.microsoft.com/office/drawing/2014/main" val="4212354097"/>
                  </a:ext>
                </a:extLst>
              </a:tr>
              <a:tr h="424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iOS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24783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475569"/>
                          </a:solidFill>
                          <a:effectLst/>
                          <a:latin typeface="Aptos" panose="020B0004020202020204" pitchFamily="34" charset="0"/>
                        </a:rPr>
                        <a:t>460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Aptos" panose="020B0004020202020204" pitchFamily="34" charset="0"/>
                        </a:rPr>
                        <a:t>Low</a:t>
                      </a:r>
                      <a:endParaRPr lang="en-IN" sz="1400" dirty="0">
                        <a:solidFill>
                          <a:srgbClr val="00B05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2420" marR="52420" marT="22466" marB="22466" anchor="ctr"/>
                </a:tc>
                <a:extLst>
                  <a:ext uri="{0D108BD9-81ED-4DB2-BD59-A6C34878D82A}">
                    <a16:rowId xmlns:a16="http://schemas.microsoft.com/office/drawing/2014/main" val="42937484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47F3D50-F514-342F-5F5B-9B95B281A7AF}"/>
              </a:ext>
            </a:extLst>
          </p:cNvPr>
          <p:cNvSpPr txBox="1"/>
          <p:nvPr/>
        </p:nvSpPr>
        <p:spPr>
          <a:xfrm>
            <a:off x="825282" y="329213"/>
            <a:ext cx="8365474" cy="58477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IN" sz="3200" b="1" i="0" u="none" strike="noStrike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Device-Level Analysis</a:t>
            </a:r>
            <a:endParaRPr lang="en-IN" sz="3200" dirty="0"/>
          </a:p>
        </p:txBody>
      </p:sp>
      <p:pic>
        <p:nvPicPr>
          <p:cNvPr id="21" name="Picture 20" descr="A screen shot of a graph&#10;&#10;AI-generated content may be incorrect.">
            <a:extLst>
              <a:ext uri="{FF2B5EF4-FFF2-40B4-BE49-F238E27FC236}">
                <a16:creationId xmlns:a16="http://schemas.microsoft.com/office/drawing/2014/main" id="{772A6ADC-413A-D1D9-284C-A81193D4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22" y="1144452"/>
            <a:ext cx="4302129" cy="53843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1300D3-EA2C-9AE6-ACBB-2C34DF9CFD9D}"/>
              </a:ext>
            </a:extLst>
          </p:cNvPr>
          <p:cNvSpPr txBox="1"/>
          <p:nvPr/>
        </p:nvSpPr>
        <p:spPr>
          <a:xfrm>
            <a:off x="852767" y="3940950"/>
            <a:ext cx="6700156" cy="32246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Feature phones have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highest fraud transactions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E108A1-A774-68F6-CC2E-6C97BD904B12}"/>
              </a:ext>
            </a:extLst>
          </p:cNvPr>
          <p:cNvSpPr txBox="1"/>
          <p:nvPr/>
        </p:nvSpPr>
        <p:spPr>
          <a:xfrm>
            <a:off x="852767" y="4449134"/>
            <a:ext cx="6683626" cy="112954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Bef>
                <a:spcPts val="1200"/>
              </a:spcBef>
              <a:buSzPts val="1000"/>
              <a:tabLst>
                <a:tab pos="457200" algn="l"/>
              </a:tabLst>
            </a:pPr>
            <a:r>
              <a:rPr lang="en-IN" b="1" kern="100" dirty="0"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Action:</a:t>
            </a: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80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Apply extra authentication for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feature phones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introduce additional authentication (OTP / biometric)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E49F60-C902-4D1E-9013-258AE594DF7E}"/>
              </a:ext>
            </a:extLst>
          </p:cNvPr>
          <p:cNvSpPr txBox="1"/>
          <p:nvPr/>
        </p:nvSpPr>
        <p:spPr>
          <a:xfrm>
            <a:off x="893605" y="5642056"/>
            <a:ext cx="6642788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*Android </a:t>
            </a:r>
            <a:r>
              <a:rPr lang="en-US" sz="1800" b="0" i="0" u="none" strike="noStrike" dirty="0">
                <a:solidFill>
                  <a:srgbClr val="475569"/>
                </a:solidFill>
                <a:effectLst/>
                <a:latin typeface="Aptos" panose="020B0004020202020204" pitchFamily="34" charset="0"/>
              </a:rPr>
              <a:t>remains the primary target for malicious activity due to platform fragmentation and sideloading capabilities.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271D-ED08-FBF8-A6A8-19BB7E79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7176864" cy="587152"/>
          </a:xfrm>
        </p:spPr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REGIONAL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34BCF-EFDA-3D71-5914-2EFBB622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2929DB-75B3-BAF5-F7CF-36C99D9B5A1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968608" y="1154903"/>
            <a:ext cx="5336839" cy="3384376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C03985-37E4-A7D5-8494-BA21F49E93F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6624984" y="1124744"/>
            <a:ext cx="4752528" cy="338437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6C7A1D-7B2E-55CE-82FB-C13FE27BC1F1}"/>
              </a:ext>
            </a:extLst>
          </p:cNvPr>
          <p:cNvSpPr txBox="1"/>
          <p:nvPr/>
        </p:nvSpPr>
        <p:spPr>
          <a:xfrm>
            <a:off x="968608" y="4615295"/>
            <a:ext cx="10408904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From a business perspective, this analysis suggests that fraud prevention strategies should focus more on Feature phone users and high-fraud regions such as West and North.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Additional security measures like stronger authentication, transaction monitoring, and customer awareness campaigns can help reduce fraud occurrence across these segments.”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63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443136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DATA INSIGHS SUMMARY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0CE319-3577-F726-6C23-B3D169DDE8F1}"/>
              </a:ext>
            </a:extLst>
          </p:cNvPr>
          <p:cNvSpPr txBox="1"/>
          <p:nvPr/>
        </p:nvSpPr>
        <p:spPr>
          <a:xfrm>
            <a:off x="6503777" y="2819042"/>
            <a:ext cx="5367200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3. Security Priority: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2% fraud rate is manageable but necessitates immediate blocks on rooted devices.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A9C3F-AC65-2EB6-EF29-EF31D173DB14}"/>
              </a:ext>
            </a:extLst>
          </p:cNvPr>
          <p:cNvSpPr txBox="1"/>
          <p:nvPr/>
        </p:nvSpPr>
        <p:spPr>
          <a:xfrm>
            <a:off x="864939" y="1533900"/>
            <a:ext cx="5343773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388620" indent="-342900">
              <a:buAutoNum type="arabicPeriod"/>
            </a:pPr>
            <a:r>
              <a:rPr lang="en-US" b="1" dirty="0">
                <a:latin typeface="Aptos" panose="020B0004020202020204" pitchFamily="34" charset="0"/>
              </a:rPr>
              <a:t>Reliability:</a:t>
            </a:r>
            <a:r>
              <a:rPr lang="en-US" dirty="0">
                <a:latin typeface="Aptos" panose="020B0004020202020204" pitchFamily="34" charset="0"/>
              </a:rPr>
              <a:t> 92.14% success rate is strong but failure rate (5.87%) indicates infrastructure strain.</a:t>
            </a:r>
          </a:p>
          <a:p>
            <a:pPr marL="388620" indent="-342900">
              <a:buAutoNum type="arabicPeriod"/>
            </a:pP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ACD840-ED88-9183-AF50-9AB4DE759CD1}"/>
              </a:ext>
            </a:extLst>
          </p:cNvPr>
          <p:cNvSpPr txBox="1"/>
          <p:nvPr/>
        </p:nvSpPr>
        <p:spPr>
          <a:xfrm>
            <a:off x="871126" y="2819042"/>
            <a:ext cx="5315713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45720"/>
            <a:r>
              <a:rPr lang="en-US" b="1" dirty="0">
                <a:latin typeface="Aptos" panose="020B0004020202020204" pitchFamily="34" charset="0"/>
              </a:rPr>
              <a:t>2. Demographic Shift:</a:t>
            </a:r>
            <a:r>
              <a:rPr lang="en-US" dirty="0">
                <a:latin typeface="Aptos" panose="020B0004020202020204" pitchFamily="34" charset="0"/>
              </a:rPr>
              <a:t> High-value transactions are dominated by older users, while volume is driven by younger cohorts.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E77E83-EEE9-9B37-7228-C32674EDC7C0}"/>
              </a:ext>
            </a:extLst>
          </p:cNvPr>
          <p:cNvSpPr txBox="1"/>
          <p:nvPr/>
        </p:nvSpPr>
        <p:spPr>
          <a:xfrm>
            <a:off x="6526460" y="1533900"/>
            <a:ext cx="5184576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4. User Experience Focus: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"Incorrect PIN" failures suggest a need for biometric authentication (</a:t>
            </a:r>
            <a:r>
              <a:rPr lang="en-US" sz="1800" b="0" i="0" u="none" strike="noStrike" dirty="0" err="1">
                <a:solidFill>
                  <a:srgbClr val="334155"/>
                </a:solidFill>
                <a:effectLst/>
                <a:latin typeface="Inter"/>
              </a:rPr>
              <a:t>FaceID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/Fingerprint) integration.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16F006-EC10-CADC-B91A-FB3C749EE255}"/>
              </a:ext>
            </a:extLst>
          </p:cNvPr>
          <p:cNvSpPr txBox="1"/>
          <p:nvPr/>
        </p:nvSpPr>
        <p:spPr>
          <a:xfrm>
            <a:off x="921378" y="4104184"/>
            <a:ext cx="5184576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Inter"/>
              </a:rPr>
              <a:t>3</a:t>
            </a:r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. Growth Engine: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Monday/Tuesday peaks suggest high weekly business settlement activity.</a:t>
            </a:r>
          </a:p>
          <a:p>
            <a:endParaRPr lang="en-US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A3005D-2E7C-6912-0FBE-6AAA7F55EF01}"/>
              </a:ext>
            </a:extLst>
          </p:cNvPr>
          <p:cNvSpPr txBox="1"/>
          <p:nvPr/>
        </p:nvSpPr>
        <p:spPr>
          <a:xfrm>
            <a:off x="6478592" y="4104184"/>
            <a:ext cx="5184576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6. Regional Strategy: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Tailor infrastructure expansion to West/South hubs to meet demand.</a:t>
            </a:r>
          </a:p>
          <a:p>
            <a:endParaRPr lang="en-US" dirty="0">
              <a:solidFill>
                <a:srgbClr val="334155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1701552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98ACA6-FB9A-2FC5-07B8-7C35627BAE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/>
          <a:p>
            <a:r>
              <a:rPr lang="en-IN" b="1"/>
              <a:t>Any Questions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{CB4470F8-5D12-4F3C-A467-D0A72AAB7FF4}TFf1460845-8e07-4b92-9183-e15be13008a218dbe6a5_win32-cc1095971745</Template>
  <TotalTime>9930</TotalTime>
  <Words>810</Words>
  <Application>Microsoft Office PowerPoint</Application>
  <PresentationFormat>Custom</PresentationFormat>
  <Paragraphs>126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Century Gothic</vt:lpstr>
      <vt:lpstr>Inter</vt:lpstr>
      <vt:lpstr>Lato</vt:lpstr>
      <vt:lpstr>Palatino Linotype</vt:lpstr>
      <vt:lpstr>Poppins</vt:lpstr>
      <vt:lpstr>Symbol</vt:lpstr>
      <vt:lpstr>Custom</vt:lpstr>
      <vt:lpstr>UPI Transaction Data Analysis</vt:lpstr>
      <vt:lpstr>PowerPoint Presentation</vt:lpstr>
      <vt:lpstr>Objective</vt:lpstr>
      <vt:lpstr>Executive Summary: Core Metrics  </vt:lpstr>
      <vt:lpstr>Historical Growth Trajectory</vt:lpstr>
      <vt:lpstr>User Demographics &amp; Value Distribution</vt:lpstr>
      <vt:lpstr>UPI Transaction Distribution Analysis</vt:lpstr>
      <vt:lpstr>Technical Performance Analysis</vt:lpstr>
      <vt:lpstr>Fraud Overview</vt:lpstr>
      <vt:lpstr>Fraud Dynamics and Distribution</vt:lpstr>
      <vt:lpstr>PowerPoint Presentation</vt:lpstr>
      <vt:lpstr>REGIONAL PERFORMANCE</vt:lpstr>
      <vt:lpstr>DATA INSIGHS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Jaiveer J</dc:creator>
  <cp:lastModifiedBy>Jaiveer J</cp:lastModifiedBy>
  <cp:revision>11</cp:revision>
  <dcterms:created xsi:type="dcterms:W3CDTF">2026-05-02T11:09:48Z</dcterms:created>
  <dcterms:modified xsi:type="dcterms:W3CDTF">2026-05-10T11:48:30Z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